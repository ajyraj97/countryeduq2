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ECDD3"/>
                </a:solidFill>
              </a:defRPr>
            </a:pPr>
            <a:r>
              <a:t>DATA ANALYST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t>Client Churn Risk</a:t>
            </a:r>
            <a:br/>
            <a:r>
              <a:t>&amp; Revenue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DCE6EE"/>
                </a:solidFill>
              </a:defRPr>
            </a:pPr>
            <a:r>
              <a:t>Managed IT Services • 200 enterprise clients • 10M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CountryEdu × Abhishek &amp;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FBECD"/>
                </a:solidFill>
              </a:defRPr>
            </a:pPr>
            <a:r>
              <a:t>Synthetic implementation — production data was not supplied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1. Business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Four management questions become measurable analytical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42841"/>
                </a:solidFill>
              </a:defRPr>
            </a:pPr>
            <a:r>
              <a:t>• Identify clients likely to churn within the next 3 months.</a:t>
            </a:r>
          </a:p>
          <a:p>
            <a:pPr>
              <a:spcAft>
                <a:spcPts val="800"/>
              </a:spcAft>
              <a:defRPr sz="1600">
                <a:solidFill>
                  <a:srgbClr val="142841"/>
                </a:solidFill>
              </a:defRPr>
            </a:pPr>
            <a:r>
              <a:t>• Find the strongest churn drivers.</a:t>
            </a:r>
          </a:p>
          <a:p>
            <a:pPr>
              <a:spcAft>
                <a:spcPts val="800"/>
              </a:spcAft>
              <a:defRPr sz="1600">
                <a:solidFill>
                  <a:srgbClr val="142841"/>
                </a:solidFill>
              </a:defRPr>
            </a:pPr>
            <a:r>
              <a:t>• Forecast revenue for the next 12 months.</a:t>
            </a:r>
          </a:p>
          <a:p>
            <a:pPr>
              <a:spcAft>
                <a:spcPts val="800"/>
              </a:spcAft>
              <a:defRPr sz="1600">
                <a:solidFill>
                  <a:srgbClr val="142841"/>
                </a:solidFill>
              </a:defRPr>
            </a:pPr>
            <a:r>
              <a:t>• Reduce churn by 5% relative to the 18% baseline.</a:t>
            </a:r>
          </a:p>
          <a:p>
            <a:pPr>
              <a:spcAft>
                <a:spcPts val="800"/>
              </a:spcAft>
              <a:defRPr sz="1600">
                <a:solidFill>
                  <a:srgbClr val="142841"/>
                </a:solidFill>
              </a:defRPr>
            </a:pPr>
            <a:r>
              <a:t>• Prioritize retention by expected revenue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417320"/>
            <a:ext cx="4160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554480"/>
            <a:ext cx="3886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856232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212848"/>
            <a:ext cx="3886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5F6C7A"/>
                </a:solidFill>
              </a:defRPr>
            </a:pPr>
            <a:r>
              <a:t>enterprise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697480"/>
            <a:ext cx="4160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2834640"/>
            <a:ext cx="3886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136392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10 million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977639"/>
            <a:ext cx="4160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4114800"/>
            <a:ext cx="3886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FINANCIAL MISSINGNESS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416552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2. Analytical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Transaction data becomes client-level risk and financial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841"/>
                </a:solidFill>
              </a:defRPr>
            </a:pPr>
            <a:r>
              <a:t>• 10M transactions → client-month aggregation → health/trend features → churn model → revenue-at-risk ranking.</a:t>
            </a:r>
          </a:p>
          <a:p>
            <a:pPr>
              <a:spcAft>
                <a:spcPts val="800"/>
              </a:spcAft>
              <a:defRPr sz="1800">
                <a:solidFill>
                  <a:srgbClr val="142841"/>
                </a:solidFill>
              </a:defRPr>
            </a:pPr>
            <a:r>
              <a:t>• Prediction unit = client-month, not transaction.</a:t>
            </a:r>
          </a:p>
          <a:p>
            <a:pPr>
              <a:spcAft>
                <a:spcPts val="800"/>
              </a:spcAft>
              <a:defRPr sz="1800">
                <a:solidFill>
                  <a:srgbClr val="142841"/>
                </a:solidFill>
              </a:defRPr>
            </a:pPr>
            <a:r>
              <a:t>• Expected revenue loss = churn probability × annualized client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3. Executive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Synthetic results from the completed analytical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BASELINE CHURN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79" y="13716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TARGET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10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17.1%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REVENUE AT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10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79.3M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19" y="137160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150876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FORECAST MAPE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9" y="18105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1.15%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3464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71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BEST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7355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Logistic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79" y="283464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971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ROC-AUC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7355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0.896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83464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971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PR-AUC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7355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0.760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93776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A"/>
                </a:solidFill>
              </a:defRPr>
            </a:pPr>
            <a:r>
              <a:t>All numerical values are synthetic.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4. Data Quality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Customer health is built from financial, service and relationship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Financial: monthly revenue, revenue growth and payment delays.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Support: ticket volume, incidents and escalations.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Service quality: SLA compliance, security incidents and cloud usage.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Customer health: CSAT and CSAT trend.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Contract: months to renewal and service count.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Missing financial values are retained with explicit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41732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19" y="1554480"/>
            <a:ext cx="3154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MODELING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19" y="185623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Client-month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74320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2880360"/>
            <a:ext cx="3154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PREDICTION 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318211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3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06908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4206240"/>
            <a:ext cx="3154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FORECAST HORIZON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4507992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5. Churn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Time-based holdout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LOGISTIC 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0.896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LOGISTIC 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1051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0.760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XGBOOST ROC-AUC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1051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0.889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37160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39" y="1508760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XGBOOST PR-AUC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181051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0.746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841"/>
                </a:solidFill>
              </a:defRPr>
            </a:pPr>
            <a:r>
              <a:t>• PR-AUC is the primary model-selection metric because churn is imbalanced.</a:t>
            </a:r>
          </a:p>
          <a:p>
            <a:pPr>
              <a:spcAft>
                <a:spcPts val="800"/>
              </a:spcAft>
              <a:defRPr sz="1500">
                <a:solidFill>
                  <a:srgbClr val="142841"/>
                </a:solidFill>
              </a:defRPr>
            </a:pPr>
            <a:r>
              <a:t>• The selected model produces a client-level probability and risk band.</a:t>
            </a:r>
          </a:p>
          <a:p>
            <a:pPr>
              <a:spcAft>
                <a:spcPts val="800"/>
              </a:spcAft>
              <a:defRPr sz="1500">
                <a:solidFill>
                  <a:srgbClr val="142841"/>
                </a:solidFill>
              </a:defRPr>
            </a:pPr>
            <a:r>
              <a:t>• Revenue exposure is calculated after prediction for business prioritization.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6. Churn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Actionable customer-health signals.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6. Churn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Actionable customer-health signals.</a:t>
            </a:r>
          </a:p>
        </p:txBody>
      </p:sp>
      <p:pic>
        <p:nvPicPr>
          <p:cNvPr id="5" name="Picture 4" descr="churn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4008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55448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Customer experience deterioration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SLA degradation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Support and escalation pressure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Contract timing</a:t>
            </a:r>
          </a:p>
          <a:p>
            <a:pPr>
              <a:spcAft>
                <a:spcPts val="800"/>
              </a:spcAft>
              <a:defRPr sz="1400">
                <a:solidFill>
                  <a:srgbClr val="142841"/>
                </a:solidFill>
              </a:defRPr>
            </a:pPr>
            <a:r>
              <a:t>• Revenue decline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7. Client Risk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Probability alone is not enough; revenue exposure determines priority.</a:t>
            </a:r>
          </a:p>
        </p:txBody>
      </p:sp>
      <p:pic>
        <p:nvPicPr>
          <p:cNvPr id="5" name="Picture 4" descr="top_revenue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4008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41732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TOP 20 REVENUE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8562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30.6M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74320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8803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PRIORITY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18211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P(churn) ×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8. 12-Month Revenue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Base forecast and churn-adjusted planning scenario.</a:t>
            </a:r>
          </a:p>
        </p:txBody>
      </p:sp>
      <p:pic>
        <p:nvPicPr>
          <p:cNvPr id="5" name="Picture 4" descr="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8368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41732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BASE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5623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159.5M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74320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88036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RISK-ADJUSTED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821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80.1M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06908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20624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BACKTEST MAPE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50799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1.15%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9. Retention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Convert risk scores into account-management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42841"/>
                </a:solidFill>
              </a:defRPr>
            </a:pPr>
            <a:r>
              <a:t>• Critical + high revenue risk → executive retention and renewal intervention.</a:t>
            </a:r>
          </a:p>
          <a:p>
            <a:pPr>
              <a:spcAft>
                <a:spcPts val="800"/>
              </a:spcAft>
              <a:defRPr sz="1500">
                <a:solidFill>
                  <a:srgbClr val="142841"/>
                </a:solidFill>
              </a:defRPr>
            </a:pPr>
            <a:r>
              <a:t>• Critical risk → service recovery and account-manager review.</a:t>
            </a:r>
          </a:p>
          <a:p>
            <a:pPr>
              <a:spcAft>
                <a:spcPts val="800"/>
              </a:spcAft>
              <a:defRPr sz="1500">
                <a:solidFill>
                  <a:srgbClr val="142841"/>
                </a:solidFill>
              </a:defRPr>
            </a:pPr>
            <a:r>
              <a:t>• High risk → health check plus SLA/CSAT improvement plan.</a:t>
            </a:r>
          </a:p>
          <a:p>
            <a:pPr>
              <a:spcAft>
                <a:spcPts val="800"/>
              </a:spcAft>
              <a:defRPr sz="1500">
                <a:solidFill>
                  <a:srgbClr val="142841"/>
                </a:solidFill>
              </a:defRPr>
            </a:pPr>
            <a:r>
              <a:t>• Medium/Low risk → proactive monitoring.</a:t>
            </a:r>
          </a:p>
          <a:p>
            <a:pPr>
              <a:spcAft>
                <a:spcPts val="800"/>
              </a:spcAft>
              <a:defRPr sz="1500">
                <a:solidFill>
                  <a:srgbClr val="142841"/>
                </a:solidFill>
              </a:defRPr>
            </a:pPr>
            <a:r>
              <a:t>• Measure retention conversion against the 17.1% target churn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5074920"/>
            <a:ext cx="64008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5212080"/>
            <a:ext cx="6126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55138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18.0% → 17.1%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5596127"/>
            <a:ext cx="6126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5F6C7A"/>
                </a:solidFill>
              </a:defRPr>
            </a:pPr>
            <a:r>
              <a:t>5% relative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42841"/>
                </a:solidFill>
              </a:defRPr>
            </a:pPr>
            <a:r>
              <a:t>10. Power BI Management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5F6C7A"/>
                </a:solidFill>
              </a:defRPr>
            </a:pPr>
            <a:r>
              <a:t>Single operating view for churn, revenue exposure and retention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17319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CHURN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190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801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17319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REVENUE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7190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79.3M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17319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12M 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1907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159.5M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14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651760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RISK-ADJUSTED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9535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80.1M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514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651760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TARGET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535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17.1%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514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F6C7A"/>
                </a:solidFill>
              </a:defRPr>
            </a:pPr>
            <a:r>
              <a:t>MODEL PR-AUC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535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42841"/>
                </a:solidFill>
              </a:defRPr>
            </a:pPr>
            <a:r>
              <a:t>0.760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776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42841"/>
                </a:solidFill>
              </a:defRPr>
            </a:pPr>
            <a:r>
              <a:t>Dashboard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42841"/>
                </a:solidFill>
              </a:defRPr>
            </a:pPr>
            <a:r>
              <a:t>Executive Overview  |  Churn Risk  |  Churn Drivers  |  Revenue Forecast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11. 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4C8D7"/>
                </a:solidFill>
              </a:defRPr>
            </a:pPr>
            <a:r>
              <a:t>Direct retention resources to clients with the greatest financial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Predict three-month churn risk at client level.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Rank clients by expected revenue loss, not probability alone.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Use CSAT, SLA, support pressure and contract timing as intervention levers.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Publish base and churn-adjusted revenue forecasts together.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Measure retention outcomes against the 17.1% target churn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715000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ECDD3"/>
                </a:solidFill>
              </a:defRPr>
            </a:pPr>
            <a:r>
              <a:t>Synthetic case study — production data can replace the synthetic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5F6C7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